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9"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130" y="5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err="1">
                <a:solidFill>
                  <a:srgbClr val="0033CC"/>
                </a:solidFill>
              </a:rPr>
              <a:t>TrackWise</a:t>
            </a:r>
            <a:r>
              <a:rPr lang="en-IN" sz="3200" b="1" dirty="0">
                <a:solidFill>
                  <a:srgbClr val="0033CC"/>
                </a:solidFill>
              </a:rPr>
              <a:t>: Relational Expense Analytics Platform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SUPRAJA K – VTU25927 – 23UECS0888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dirty="0"/>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816169" y="2087751"/>
            <a:ext cx="14643031" cy="7551549"/>
          </a:xfrm>
          <a:prstGeom prst="rect">
            <a:avLst/>
          </a:prstGeom>
          <a:noFill/>
        </p:spPr>
        <p:txBody>
          <a:bodyPr wrap="square" rtlCol="0">
            <a:spAutoFit/>
          </a:bodyPr>
          <a:lstStyle/>
          <a:p>
            <a:pPr marL="457200" indent="-457200">
              <a:buFontTx/>
              <a:buChar char="-"/>
            </a:pPr>
            <a:r>
              <a:rPr lang="en-US" sz="2800" dirty="0"/>
              <a:t>It is difficult for many people to track and analyze their expenditure in an efficient manner. </a:t>
            </a:r>
          </a:p>
          <a:p>
            <a:endParaRPr lang="en-US" sz="2800" dirty="0"/>
          </a:p>
          <a:p>
            <a:pPr marL="457200" indent="-457200">
              <a:buFontTx/>
              <a:buChar char="-"/>
            </a:pPr>
            <a:r>
              <a:rPr lang="en-US" sz="2800" dirty="0"/>
              <a:t>This lack of proper tracking often results in improper budgeting and financial decisions. </a:t>
            </a:r>
          </a:p>
          <a:p>
            <a:endParaRPr lang="en-US" sz="2800" dirty="0"/>
          </a:p>
          <a:p>
            <a:pPr marL="457200" indent="-457200">
              <a:buFontTx/>
              <a:buChar char="-"/>
            </a:pPr>
            <a:r>
              <a:rPr lang="en-US" sz="2800" dirty="0"/>
              <a:t>The project aims to develop a structured system for tracking and managing expenditure.</a:t>
            </a:r>
          </a:p>
          <a:p>
            <a:pPr marL="457200" indent="-457200">
              <a:buFontTx/>
              <a:buChar char="-"/>
            </a:pPr>
            <a:endParaRPr lang="en-US" sz="2800" dirty="0"/>
          </a:p>
          <a:p>
            <a:pPr marL="457200" indent="-457200">
              <a:buFontTx/>
              <a:buChar char="-"/>
            </a:pPr>
            <a:r>
              <a:rPr lang="en-US" sz="2800" dirty="0"/>
              <a:t> This is an important project because it helps people track their expenditure and maintain financial discipline.</a:t>
            </a:r>
          </a:p>
          <a:p>
            <a:pPr marL="457200" indent="-457200">
              <a:buFontTx/>
              <a:buChar char="-"/>
            </a:pPr>
            <a:endParaRPr lang="en-US" sz="2800" dirty="0"/>
          </a:p>
          <a:p>
            <a:pPr marL="457200" indent="-457200">
              <a:buFontTx/>
              <a:buChar char="-"/>
            </a:pPr>
            <a:r>
              <a:rPr lang="en-US" sz="2800" dirty="0"/>
              <a:t> In real-life scenarios, students, employees, and small-scale industries need a simple tool for tracking expenditure. </a:t>
            </a:r>
          </a:p>
          <a:p>
            <a:pPr marL="457200" indent="-457200">
              <a:buFontTx/>
              <a:buChar char="-"/>
            </a:pPr>
            <a:endParaRPr lang="en-US" sz="2800" dirty="0"/>
          </a:p>
          <a:p>
            <a:pPr marL="457200" indent="-457200">
              <a:buFontTx/>
              <a:buChar char="-"/>
            </a:pPr>
            <a:r>
              <a:rPr lang="en-US" sz="2800" dirty="0"/>
              <a:t>The project provides a web-based platform to easily store and manage financial data. </a:t>
            </a:r>
          </a:p>
          <a:p>
            <a:pPr marL="457200" indent="-457200">
              <a:buFontTx/>
              <a:buChar char="-"/>
            </a:pPr>
            <a:endParaRPr lang="en-US" sz="2800" dirty="0"/>
          </a:p>
          <a:p>
            <a:pPr marL="457200" indent="-457200">
              <a:buFontTx/>
              <a:buChar char="-"/>
            </a:pPr>
            <a:r>
              <a:rPr lang="en-US" sz="2800" dirty="0"/>
              <a:t>It also analyzes the expenditure patterns and displays the results using visual insights. </a:t>
            </a:r>
          </a:p>
          <a:p>
            <a:pPr marL="457200" indent="-457200">
              <a:buFontTx/>
              <a:buChar char="-"/>
            </a:pPr>
            <a:endParaRPr lang="en-US" sz="2800" dirty="0"/>
          </a:p>
          <a:p>
            <a:pPr marL="457200" indent="-457200">
              <a:buFontTx/>
              <a:buChar char="-"/>
            </a:pPr>
            <a:r>
              <a:rPr lang="en-US" sz="2800" dirty="0"/>
              <a:t>This helps the users make better financial decisions through proper expenditure analytics.</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378694" y="2804929"/>
            <a:ext cx="15082325" cy="4401205"/>
          </a:xfrm>
          <a:prstGeom prst="rect">
            <a:avLst/>
          </a:prstGeom>
          <a:noFill/>
        </p:spPr>
        <p:txBody>
          <a:bodyPr wrap="square" rtlCol="0">
            <a:spAutoFit/>
          </a:bodyPr>
          <a:lstStyle/>
          <a:p>
            <a:r>
              <a:rPr lang="en-US" sz="2800" dirty="0"/>
              <a:t>Most individuals find it difficult to keep track of their daily spending in a systematic manner.</a:t>
            </a:r>
          </a:p>
          <a:p>
            <a:r>
              <a:rPr lang="en-US" sz="2800" dirty="0"/>
              <a:t>Most of the existing methods are based on manual recordings or basic tools, making it difficult to track one's spending in an efficient manner. This results in poor understanding of one's spending patterns and budgeting. There is a need to develop a system that can efficiently record expense information in an automated manner.</a:t>
            </a:r>
          </a:p>
          <a:p>
            <a:pPr marL="457200" indent="-457200">
              <a:buFontTx/>
              <a:buChar char="-"/>
            </a:pPr>
            <a:endParaRPr lang="en-US" sz="2800" dirty="0"/>
          </a:p>
          <a:p>
            <a:r>
              <a:rPr lang="en-US" sz="2800" dirty="0"/>
              <a:t>There is also a need to give users proper insight into their spending </a:t>
            </a:r>
            <a:r>
              <a:rPr lang="en-US" sz="2800" dirty="0" err="1"/>
              <a:t>patterns.A</a:t>
            </a:r>
            <a:r>
              <a:rPr lang="en-US" sz="2800" dirty="0"/>
              <a:t> reliable online platform would be beneficial in making expense management more efficient.</a:t>
            </a:r>
          </a:p>
          <a:p>
            <a:r>
              <a:rPr lang="en-US" sz="2800" dirty="0"/>
              <a:t>The system should be able to facilitate easy data entry, storage, and visualization of expense information. Thus, it is necessary to develop an automated expense analytics system.</a:t>
            </a: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3733800" y="2561796"/>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Rectangle 2">
            <a:extLst>
              <a:ext uri="{FF2B5EF4-FFF2-40B4-BE49-F238E27FC236}">
                <a16:creationId xmlns:a16="http://schemas.microsoft.com/office/drawing/2014/main" id="{2FA3A428-DA2B-7007-F72B-E778D6817F7C}"/>
              </a:ext>
            </a:extLst>
          </p:cNvPr>
          <p:cNvSpPr>
            <a:spLocks noChangeArrowheads="1"/>
          </p:cNvSpPr>
          <p:nvPr/>
        </p:nvSpPr>
        <p:spPr bwMode="auto">
          <a:xfrm>
            <a:off x="2286000" y="-4680634"/>
            <a:ext cx="11125200" cy="1431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To design and develop a web-based expense tracking and analytics system.</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To implement features for recording, categorizing, and managing daily expenses.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To improve financial monitoring through graphical data visualization.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To evaluate the performance of the expense analytics system in supporting budgeting decisions.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indent="-457200">
              <a:buFont typeface="+mj-lt"/>
              <a:buAutoNum type="arabicPeriod"/>
            </a:pPr>
            <a:r>
              <a:rPr lang="en-US" sz="2400" dirty="0">
                <a:latin typeface="Arial" panose="020B0604020202020204" pitchFamily="34" charset="0"/>
                <a:cs typeface="Arial" panose="020B0604020202020204" pitchFamily="34" charset="0"/>
              </a:rPr>
              <a:t>To provide a user-friendly interface for easy data entry and expense management.</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a:p>
            <a:pPr marL="457200" indent="-457200">
              <a:buFont typeface="+mj-lt"/>
              <a:buAutoNum type="arabicPeriod"/>
            </a:pPr>
            <a:r>
              <a:rPr lang="en-US" sz="2400" dirty="0">
                <a:latin typeface="Arial" panose="020B0604020202020204" pitchFamily="34" charset="0"/>
                <a:cs typeface="Arial" panose="020B0604020202020204" pitchFamily="34" charset="0"/>
              </a:rPr>
              <a:t>To generate reports that help users analyze their spending habits.</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a:p>
            <a:pPr marL="457200" indent="-457200">
              <a:buFont typeface="+mj-lt"/>
              <a:buAutoNum type="arabicPeriod"/>
            </a:pPr>
            <a:r>
              <a:rPr lang="en-US" sz="2400" dirty="0">
                <a:latin typeface="Arial" panose="020B0604020202020204" pitchFamily="34" charset="0"/>
                <a:cs typeface="Arial" panose="020B0604020202020204" pitchFamily="34" charset="0"/>
              </a:rPr>
              <a:t>To store and manage financial data securely in a structured database.</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a:p>
            <a:pPr marL="457200" indent="-457200">
              <a:buFont typeface="+mj-lt"/>
              <a:buAutoNum type="arabicPeriod"/>
            </a:pPr>
            <a:r>
              <a:rPr lang="en-US" sz="2400" dirty="0">
                <a:latin typeface="Arial" panose="020B0604020202020204" pitchFamily="34" charset="0"/>
                <a:cs typeface="Arial" panose="020B0604020202020204" pitchFamily="34" charset="0"/>
              </a:rPr>
              <a:t>To help users make better budgeting and financial planning decisions.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176975" y="1938338"/>
            <a:ext cx="15082325" cy="11295400"/>
          </a:xfrm>
          <a:prstGeom prst="rect">
            <a:avLst/>
          </a:prstGeom>
          <a:noFill/>
        </p:spPr>
        <p:txBody>
          <a:bodyPr wrap="square" rtlCol="0">
            <a:spAutoFit/>
          </a:bodyPr>
          <a:lstStyle/>
          <a:p>
            <a:r>
              <a:rPr lang="en-US" sz="2800" b="1" dirty="0"/>
              <a:t>1. Description of the Solution</a:t>
            </a:r>
          </a:p>
          <a:p>
            <a:r>
              <a:rPr lang="en-US" sz="2800" dirty="0"/>
              <a:t>The proposed solution is a web-based application for expense tracking and analytics. This application enables users to track their daily expenses. It also provides a database for storing the expenses. In addition, the application provides visualization tools for analyzing the expenses.</a:t>
            </a:r>
          </a:p>
          <a:p>
            <a:endParaRPr lang="en-US" sz="2800" dirty="0"/>
          </a:p>
          <a:p>
            <a:r>
              <a:rPr lang="en-US" sz="2800" b="1" dirty="0"/>
              <a:t>2. How it Solves Existing Issues</a:t>
            </a:r>
          </a:p>
          <a:p>
            <a:r>
              <a:rPr lang="en-US" sz="2800" dirty="0"/>
              <a:t>The proposed solution replaces traditional expense tracking systems with a modern expense tracking system. This application tracks the expenses of the users through automation. It also provides efficient organization of the expenses. In addition, the application provides clear insights regarding the expenses.</a:t>
            </a:r>
          </a:p>
          <a:p>
            <a:endParaRPr lang="en-US" sz="2800" b="1" dirty="0"/>
          </a:p>
          <a:p>
            <a:r>
              <a:rPr lang="en-US" sz="2800" b="1" dirty="0"/>
              <a:t>3. Advantages over Current Systems</a:t>
            </a:r>
          </a:p>
          <a:p>
            <a:r>
              <a:rPr lang="en-US" sz="2800" dirty="0"/>
              <a:t>The proposed solution provides advantages over the traditional systems. In traditional systems, the expenses of the users are recorded manually. In the proposed solution, the application provides a user-friendly interface. In addition, the application provides efficient organization of the expenses. Furthermore, the application provides fast data retrieval.</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94863" y="2215810"/>
            <a:ext cx="10363199" cy="6678751"/>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1. Input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input stage involves the data entered by the user into the system. Users provide details such as expense amount, category, date, and description through the web interface. This information is collected through forms in the application and sent to the system for processing.</a:t>
            </a:r>
          </a:p>
          <a:p>
            <a:r>
              <a:rPr lang="en-US" sz="2000" b="1" dirty="0">
                <a:latin typeface="Arial" panose="020B0604020202020204" pitchFamily="34" charset="0"/>
                <a:cs typeface="Arial" panose="020B0604020202020204" pitchFamily="34" charset="0"/>
              </a:rPr>
              <a:t>2. Processing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In the processing stage, the system organizes and analyzes the entered data. The application validates the input, categorizes the expenses, and performs calculations such as total expenses, category-wise spending, and budget comparisons. The processing component ensures that the data is structured and ready for analysis.</a:t>
            </a:r>
          </a:p>
          <a:p>
            <a:r>
              <a:rPr lang="en-US" sz="2000" b="1" dirty="0">
                <a:latin typeface="Arial" panose="020B0604020202020204" pitchFamily="34" charset="0"/>
                <a:cs typeface="Arial" panose="020B0604020202020204" pitchFamily="34" charset="0"/>
              </a:rPr>
              <a:t>3. Database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database is used to store all expense records securely. It maintains information such as user details, transaction data, and expense categories. The database allows the system to retrieve, update, and manage financial records efficiently whenever the user accesses the application.</a:t>
            </a:r>
          </a:p>
          <a:p>
            <a:r>
              <a:rPr lang="en-US" sz="2000" b="1" dirty="0">
                <a:latin typeface="Arial" panose="020B0604020202020204" pitchFamily="34" charset="0"/>
                <a:cs typeface="Arial" panose="020B0604020202020204" pitchFamily="34" charset="0"/>
              </a:rPr>
              <a:t>4. Output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output stage presents the processed information to the user. The system displays expense summaries, reports, and visualizations such as charts and graphs. These outputs help users clearly understand their spending patterns and support better financial decision-making.</a:t>
            </a:r>
          </a:p>
          <a:p>
            <a:pPr marL="457200" indent="-457200">
              <a:buFontTx/>
              <a:buChar char="-"/>
            </a:pPr>
            <a:endParaRPr lang="en-IN" sz="2800" dirty="0"/>
          </a:p>
        </p:txBody>
      </p:sp>
      <p:pic>
        <p:nvPicPr>
          <p:cNvPr id="3" name="Picture 2">
            <a:extLst>
              <a:ext uri="{FF2B5EF4-FFF2-40B4-BE49-F238E27FC236}">
                <a16:creationId xmlns:a16="http://schemas.microsoft.com/office/drawing/2014/main" id="{BE055153-AF1E-A910-E3B6-592413C24A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73302" y="2932396"/>
            <a:ext cx="5954577" cy="39697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057400" y="1479005"/>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61F1518-A457-0E6E-7A25-2FF97250B8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2725" y="2648112"/>
            <a:ext cx="7862373" cy="5241582"/>
          </a:xfrm>
          <a:prstGeom prst="rect">
            <a:avLst/>
          </a:prstGeom>
        </p:spPr>
      </p:pic>
      <p:pic>
        <p:nvPicPr>
          <p:cNvPr id="5" name="Picture 4">
            <a:extLst>
              <a:ext uri="{FF2B5EF4-FFF2-40B4-BE49-F238E27FC236}">
                <a16:creationId xmlns:a16="http://schemas.microsoft.com/office/drawing/2014/main" id="{9F2457A2-6E75-5863-E47A-5EA5B9319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6599" y="2681362"/>
            <a:ext cx="7464295" cy="51430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2066980"/>
            <a:ext cx="15082325" cy="7417415"/>
          </a:xfrm>
          <a:prstGeom prst="rect">
            <a:avLst/>
          </a:prstGeom>
          <a:noFill/>
        </p:spPr>
        <p:txBody>
          <a:bodyPr wrap="square" rtlCol="0">
            <a:spAutoFit/>
          </a:bodyPr>
          <a:lstStyle/>
          <a:p>
            <a:r>
              <a:rPr lang="en-IN" sz="2800" b="1" dirty="0"/>
              <a:t>Frontend:</a:t>
            </a:r>
            <a:br>
              <a:rPr lang="en-IN" sz="2800" dirty="0"/>
            </a:br>
            <a:r>
              <a:rPr lang="en-IN" sz="2800" dirty="0"/>
              <a:t>HTML, CSS, JavaScript</a:t>
            </a:r>
          </a:p>
          <a:p>
            <a:endParaRPr lang="en-IN" sz="2800" dirty="0"/>
          </a:p>
          <a:p>
            <a:r>
              <a:rPr lang="en-IN" sz="2800" b="1" dirty="0"/>
              <a:t>Backend:</a:t>
            </a:r>
            <a:br>
              <a:rPr lang="en-IN" sz="2800" dirty="0"/>
            </a:br>
            <a:r>
              <a:rPr lang="en-IN" sz="2800" dirty="0"/>
              <a:t>Node.js / Express.js (or any server-side framework used for handling requests and processing data)</a:t>
            </a:r>
          </a:p>
          <a:p>
            <a:endParaRPr lang="en-IN" sz="2800" dirty="0"/>
          </a:p>
          <a:p>
            <a:r>
              <a:rPr lang="en-IN" sz="2800" b="1" dirty="0"/>
              <a:t>Database:</a:t>
            </a:r>
            <a:br>
              <a:rPr lang="en-IN" sz="2800" dirty="0"/>
            </a:br>
            <a:r>
              <a:rPr lang="en-IN" sz="2800" dirty="0"/>
              <a:t>MySQL (for storing user details and expense records)</a:t>
            </a:r>
          </a:p>
          <a:p>
            <a:endParaRPr lang="en-IN" sz="2800" dirty="0"/>
          </a:p>
          <a:p>
            <a:r>
              <a:rPr lang="en-IN" sz="2800" b="1" dirty="0"/>
              <a:t>Tools:</a:t>
            </a:r>
            <a:br>
              <a:rPr lang="en-IN" sz="2800" dirty="0"/>
            </a:br>
            <a:r>
              <a:rPr lang="en-IN" sz="2800" dirty="0"/>
              <a:t>Visual Studio Code, Web Browser, Git Hub </a:t>
            </a:r>
          </a:p>
          <a:p>
            <a:endParaRPr lang="en-IN" sz="2800" dirty="0"/>
          </a:p>
          <a:p>
            <a:r>
              <a:rPr lang="en-IN" sz="2800" b="1" dirty="0"/>
              <a:t>Hardware/Software Requirements:</a:t>
            </a:r>
            <a:endParaRPr lang="en-IN" sz="2800" dirty="0"/>
          </a:p>
          <a:p>
            <a:r>
              <a:rPr lang="en-IN" sz="2800" b="1" dirty="0"/>
              <a:t>Hardware:</a:t>
            </a:r>
            <a:r>
              <a:rPr lang="en-IN" sz="2800" dirty="0"/>
              <a:t> Computer/Laptop with minimum 4 GB RAM and internet connectivity</a:t>
            </a:r>
          </a:p>
          <a:p>
            <a:r>
              <a:rPr lang="en-IN" sz="2800" b="1" dirty="0"/>
              <a:t>Software:</a:t>
            </a:r>
            <a:r>
              <a:rPr lang="en-IN" sz="2800" dirty="0"/>
              <a:t> Operating System (Windows/Linux/Mac), Web Browser, Node.js runtime environment, MySQL Database Server</a:t>
            </a:r>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endParaRPr lang="en-IN" sz="2800" b="1" dirty="0"/>
          </a:p>
          <a:p>
            <a:r>
              <a:rPr lang="en-IN" sz="2800" b="1" dirty="0">
                <a:solidFill>
                  <a:srgbClr val="FF0000"/>
                </a:solidFill>
              </a:rPr>
              <a:t>----- Example for reference only ---- (Change according to your project)</a:t>
            </a:r>
          </a:p>
          <a:p>
            <a:endParaRPr lang="en-IN" sz="2800" b="1" dirty="0"/>
          </a:p>
          <a:p>
            <a:r>
              <a:rPr lang="en-IN" sz="2800" b="1" dirty="0"/>
              <a:t>Module 1: User Management</a:t>
            </a:r>
          </a:p>
          <a:p>
            <a:r>
              <a:rPr lang="en-IN" sz="2800" dirty="0"/>
              <a:t>Handles user registration, login, and profile management with secure authentication.</a:t>
            </a:r>
          </a:p>
          <a:p>
            <a:r>
              <a:rPr lang="en-IN" sz="2800" b="1" dirty="0"/>
              <a:t>Module 2: Core Processing</a:t>
            </a:r>
          </a:p>
          <a:p>
            <a:r>
              <a:rPr lang="en-IN" sz="2800" dirty="0"/>
              <a:t>Implements the main business logic and processes user inputs efficiently.</a:t>
            </a:r>
          </a:p>
          <a:p>
            <a:r>
              <a:rPr lang="en-IN" sz="2800" b="1" dirty="0"/>
              <a:t>Module 3: Database Management</a:t>
            </a:r>
          </a:p>
          <a:p>
            <a:r>
              <a:rPr lang="en-IN" sz="2800" dirty="0"/>
              <a:t>Manages data storage, retrieval, and ensures data integrity.</a:t>
            </a:r>
          </a:p>
          <a:p>
            <a:r>
              <a:rPr lang="en-IN" sz="2800" b="1" dirty="0"/>
              <a:t>Module 4: Reporting &amp; Analytics</a:t>
            </a:r>
          </a:p>
          <a:p>
            <a:r>
              <a:rPr lang="en-IN" sz="2800" dirty="0"/>
              <a:t>Generates reports and visual insights for better decision-making.</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5" name="Picture 4">
            <a:extLst>
              <a:ext uri="{FF2B5EF4-FFF2-40B4-BE49-F238E27FC236}">
                <a16:creationId xmlns:a16="http://schemas.microsoft.com/office/drawing/2014/main" id="{E2DF823C-B2A4-1DA1-CB46-0BCACD6A90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5161" y="1422654"/>
            <a:ext cx="8534400" cy="5056432"/>
          </a:xfrm>
          <a:prstGeom prst="rect">
            <a:avLst/>
          </a:prstGeom>
        </p:spPr>
      </p:pic>
      <p:sp>
        <p:nvSpPr>
          <p:cNvPr id="38" name="TextBox 37">
            <a:extLst>
              <a:ext uri="{FF2B5EF4-FFF2-40B4-BE49-F238E27FC236}">
                <a16:creationId xmlns:a16="http://schemas.microsoft.com/office/drawing/2014/main" id="{DF3A9C09-2469-82F2-0F45-5484EA28F4AE}"/>
              </a:ext>
            </a:extLst>
          </p:cNvPr>
          <p:cNvSpPr txBox="1"/>
          <p:nvPr/>
        </p:nvSpPr>
        <p:spPr>
          <a:xfrm>
            <a:off x="2461777" y="7185463"/>
            <a:ext cx="14211300" cy="1477328"/>
          </a:xfrm>
          <a:prstGeom prst="rect">
            <a:avLst/>
          </a:prstGeom>
          <a:noFill/>
        </p:spPr>
        <p:txBody>
          <a:bodyPr wrap="square">
            <a:spAutoFit/>
          </a:bodyPr>
          <a:lstStyle/>
          <a:p>
            <a:r>
              <a:rPr lang="en-US" sz="2400" b="1" dirty="0"/>
              <a:t>2. Login Page</a:t>
            </a:r>
          </a:p>
          <a:p>
            <a:r>
              <a:rPr lang="en-US" sz="2400" dirty="0"/>
              <a:t>In the login page, the user can log in to the system with the help of the username and password. Only the registered users can use the application.</a:t>
            </a:r>
          </a:p>
          <a:p>
            <a:pPr marL="457200" indent="-457200">
              <a:buFontTx/>
              <a:buChar char="-"/>
            </a:pPr>
            <a:endParaRPr lang="en-US" sz="1800" dirty="0"/>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8FCCB05-8ACC-39C5-B225-CC20B5F057E5}"/>
              </a:ext>
            </a:extLst>
          </p:cNvPr>
          <p:cNvPicPr>
            <a:picLocks noChangeAspect="1"/>
          </p:cNvPicPr>
          <p:nvPr/>
        </p:nvPicPr>
        <p:blipFill>
          <a:blip r:embed="rId3"/>
          <a:stretch>
            <a:fillRect/>
          </a:stretch>
        </p:blipFill>
        <p:spPr>
          <a:xfrm>
            <a:off x="4882407" y="1504907"/>
            <a:ext cx="7848600" cy="5645218"/>
          </a:xfrm>
          <a:prstGeom prst="rect">
            <a:avLst/>
          </a:prstGeom>
        </p:spPr>
      </p:pic>
      <p:sp>
        <p:nvSpPr>
          <p:cNvPr id="5" name="TextBox 4">
            <a:extLst>
              <a:ext uri="{FF2B5EF4-FFF2-40B4-BE49-F238E27FC236}">
                <a16:creationId xmlns:a16="http://schemas.microsoft.com/office/drawing/2014/main" id="{CE21EED4-614B-5145-3464-A89843A2C801}"/>
              </a:ext>
            </a:extLst>
          </p:cNvPr>
          <p:cNvSpPr txBox="1"/>
          <p:nvPr/>
        </p:nvSpPr>
        <p:spPr>
          <a:xfrm>
            <a:off x="2209800" y="7654522"/>
            <a:ext cx="14211300" cy="1569660"/>
          </a:xfrm>
          <a:prstGeom prst="rect">
            <a:avLst/>
          </a:prstGeom>
          <a:noFill/>
        </p:spPr>
        <p:txBody>
          <a:bodyPr wrap="square">
            <a:spAutoFit/>
          </a:bodyPr>
          <a:lstStyle/>
          <a:p>
            <a:pPr marL="457200" indent="-457200">
              <a:buFontTx/>
              <a:buChar char="-"/>
            </a:pPr>
            <a:r>
              <a:rPr lang="en-US" sz="2400" b="1" dirty="0"/>
              <a:t>1. Home Page</a:t>
            </a:r>
          </a:p>
          <a:p>
            <a:r>
              <a:rPr lang="en-US" sz="2400" dirty="0"/>
              <a:t>The home page is the interface through which the user gets to know the expense tracking system. Here, the user is introduced to the features of the application through the home page. The user can navigate to different sections such as the login option or the system information option.</a:t>
            </a:r>
          </a:p>
        </p:txBody>
      </p:sp>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103585" y="1859697"/>
            <a:ext cx="15082325" cy="6986528"/>
          </a:xfrm>
          <a:prstGeom prst="rect">
            <a:avLst/>
          </a:prstGeom>
          <a:noFill/>
        </p:spPr>
        <p:txBody>
          <a:bodyPr wrap="square" rtlCol="0">
            <a:spAutoFit/>
          </a:bodyPr>
          <a:lstStyle/>
          <a:p>
            <a:endParaRPr lang="en-US" sz="2800" dirty="0"/>
          </a:p>
          <a:p>
            <a:endParaRPr lang="en-US" sz="2800"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r>
              <a:rPr lang="en-US" sz="2800" b="1" dirty="0"/>
              <a:t>4. Output Page</a:t>
            </a:r>
          </a:p>
          <a:p>
            <a:r>
              <a:rPr lang="en-US" sz="2800" dirty="0"/>
              <a:t>In the output page, the results of the expenses incurred can be analyzed with the help of the output page. The results can be shown to the user through the output page.</a:t>
            </a:r>
            <a:endParaRPr lang="en-IN" sz="2800" dirty="0"/>
          </a:p>
        </p:txBody>
      </p:sp>
      <p:pic>
        <p:nvPicPr>
          <p:cNvPr id="3" name="Picture 2">
            <a:extLst>
              <a:ext uri="{FF2B5EF4-FFF2-40B4-BE49-F238E27FC236}">
                <a16:creationId xmlns:a16="http://schemas.microsoft.com/office/drawing/2014/main" id="{024F3C53-3688-2011-C567-CFE1C8632F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5643" y="1700880"/>
            <a:ext cx="8182686" cy="495301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BC05840D-DCEA-9AAF-AAB7-51D74F875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4534" y="1695376"/>
            <a:ext cx="8001000" cy="5019494"/>
          </a:xfrm>
          <a:prstGeom prst="rect">
            <a:avLst/>
          </a:prstGeom>
        </p:spPr>
      </p:pic>
      <p:sp>
        <p:nvSpPr>
          <p:cNvPr id="38" name="TextBox 37">
            <a:extLst>
              <a:ext uri="{FF2B5EF4-FFF2-40B4-BE49-F238E27FC236}">
                <a16:creationId xmlns:a16="http://schemas.microsoft.com/office/drawing/2014/main" id="{7CD207D0-AF74-2D35-1B84-5FEFA3E1782C}"/>
              </a:ext>
            </a:extLst>
          </p:cNvPr>
          <p:cNvSpPr txBox="1"/>
          <p:nvPr/>
        </p:nvSpPr>
        <p:spPr>
          <a:xfrm>
            <a:off x="2427996" y="7518845"/>
            <a:ext cx="14211300" cy="1200329"/>
          </a:xfrm>
          <a:prstGeom prst="rect">
            <a:avLst/>
          </a:prstGeom>
          <a:noFill/>
        </p:spPr>
        <p:txBody>
          <a:bodyPr wrap="square">
            <a:spAutoFit/>
          </a:bodyPr>
          <a:lstStyle/>
          <a:p>
            <a:r>
              <a:rPr lang="en-US" sz="2400" b="1" dirty="0"/>
              <a:t>3. Main Module</a:t>
            </a:r>
          </a:p>
          <a:p>
            <a:r>
              <a:rPr lang="en-US" sz="2400" dirty="0"/>
              <a:t>In the main module, the user can add the expenses incurred on a day-to-day basis. The user can manage the expenses with the help of the features provided.</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381000" y="290493"/>
            <a:ext cx="17907000" cy="3046988"/>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p>
          <a:p>
            <a:pPr algn="ctr"/>
            <a:endParaRPr lang="en-US" sz="4800" b="1" dirty="0">
              <a:solidFill>
                <a:srgbClr val="0033CC"/>
              </a:solidFill>
              <a:latin typeface="Times New Roman" panose="02020603050405020304" pitchFamily="18" charset="0"/>
              <a:cs typeface="Times New Roman" panose="02020603050405020304" pitchFamily="18" charset="0"/>
            </a:endParaRPr>
          </a:p>
          <a:p>
            <a:pPr algn="ctr"/>
            <a:endParaRPr lang="en-US" sz="4800" b="1" dirty="0">
              <a:solidFill>
                <a:srgbClr val="0033CC"/>
              </a:solidFill>
              <a:latin typeface="Times New Roman" panose="02020603050405020304" pitchFamily="18" charset="0"/>
              <a:cs typeface="Times New Roman" panose="02020603050405020304" pitchFamily="18" charset="0"/>
            </a:endParaRPr>
          </a:p>
          <a:p>
            <a:pPr algn="ct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65A1966-33FC-4942-A9BC-86172001D549}"/>
              </a:ext>
            </a:extLst>
          </p:cNvPr>
          <p:cNvSpPr txBox="1"/>
          <p:nvPr/>
        </p:nvSpPr>
        <p:spPr>
          <a:xfrm>
            <a:off x="2303830" y="2387058"/>
            <a:ext cx="13967711" cy="5262979"/>
          </a:xfrm>
          <a:prstGeom prst="rect">
            <a:avLst/>
          </a:prstGeom>
          <a:noFill/>
        </p:spPr>
        <p:txBody>
          <a:bodyPr wrap="square">
            <a:spAutoFit/>
          </a:bodyPr>
          <a:lstStyle/>
          <a:p>
            <a:pPr>
              <a:buNone/>
            </a:pPr>
            <a:r>
              <a:rPr lang="en-US" sz="2400" b="1" dirty="0">
                <a:latin typeface="Arial" panose="020B0604020202020204" pitchFamily="34" charset="0"/>
                <a:cs typeface="Arial" panose="020B0604020202020204" pitchFamily="34" charset="0"/>
              </a:rPr>
              <a:t>Advantages</a:t>
            </a:r>
          </a:p>
          <a:p>
            <a:pPr>
              <a:buFont typeface="+mj-lt"/>
              <a:buAutoNum type="arabicPeriod"/>
            </a:pPr>
            <a:r>
              <a:rPr lang="en-US" sz="2400" dirty="0">
                <a:latin typeface="Arial" panose="020B0604020202020204" pitchFamily="34" charset="0"/>
                <a:cs typeface="Arial" panose="020B0604020202020204" pitchFamily="34" charset="0"/>
              </a:rPr>
              <a:t>Helps users easily track and manage their daily expenses in one system.</a:t>
            </a:r>
          </a:p>
          <a:p>
            <a:pPr>
              <a:buFont typeface="+mj-lt"/>
              <a:buAutoNum type="arabicPeriod"/>
            </a:pPr>
            <a:r>
              <a:rPr lang="en-US" sz="2400" dirty="0">
                <a:latin typeface="Arial" panose="020B0604020202020204" pitchFamily="34" charset="0"/>
                <a:cs typeface="Arial" panose="020B0604020202020204" pitchFamily="34" charset="0"/>
              </a:rPr>
              <a:t>Provides clear visualization of spending patterns using charts and reports.</a:t>
            </a:r>
          </a:p>
          <a:p>
            <a:pPr>
              <a:buFont typeface="+mj-lt"/>
              <a:buAutoNum type="arabicPeriod"/>
            </a:pPr>
            <a:r>
              <a:rPr lang="en-US" sz="2400" dirty="0">
                <a:latin typeface="Arial" panose="020B0604020202020204" pitchFamily="34" charset="0"/>
                <a:cs typeface="Arial" panose="020B0604020202020204" pitchFamily="34" charset="0"/>
              </a:rPr>
              <a:t>Improves budgeting and financial planning.</a:t>
            </a:r>
          </a:p>
          <a:p>
            <a:pPr>
              <a:buFont typeface="+mj-lt"/>
              <a:buAutoNum type="arabicPeriod"/>
            </a:pPr>
            <a:r>
              <a:rPr lang="en-US" sz="2400" dirty="0">
                <a:latin typeface="Arial" panose="020B0604020202020204" pitchFamily="34" charset="0"/>
                <a:cs typeface="Arial" panose="020B0604020202020204" pitchFamily="34" charset="0"/>
              </a:rPr>
              <a:t>Reduces errors compared to manual expense tracking methods.</a:t>
            </a:r>
          </a:p>
          <a:p>
            <a:pPr>
              <a:buFont typeface="+mj-lt"/>
              <a:buAutoNum type="arabicPeriod"/>
            </a:pPr>
            <a:r>
              <a:rPr lang="en-US" sz="2400" dirty="0">
                <a:latin typeface="Arial" panose="020B0604020202020204" pitchFamily="34" charset="0"/>
                <a:cs typeface="Arial" panose="020B0604020202020204" pitchFamily="34" charset="0"/>
              </a:rPr>
              <a:t>User-friendly interface makes it simple for students and individuals to use.</a:t>
            </a:r>
          </a:p>
          <a:p>
            <a:pPr>
              <a:buFont typeface="+mj-lt"/>
              <a:buAutoNum type="arabicPeriod"/>
            </a:pPr>
            <a:r>
              <a:rPr lang="en-US" sz="2400" dirty="0">
                <a:latin typeface="Arial" panose="020B0604020202020204" pitchFamily="34" charset="0"/>
                <a:cs typeface="Arial" panose="020B0604020202020204" pitchFamily="34" charset="0"/>
              </a:rPr>
              <a:t>Stores data in an organized database for easy access and retrieval.</a:t>
            </a:r>
          </a:p>
          <a:p>
            <a:pPr>
              <a:buFont typeface="+mj-lt"/>
              <a:buAutoNum type="arabicPeriod"/>
            </a:pPr>
            <a:endParaRPr lang="en-US" sz="2400" dirty="0">
              <a:latin typeface="Arial" panose="020B0604020202020204" pitchFamily="34" charset="0"/>
              <a:cs typeface="Arial" panose="020B0604020202020204" pitchFamily="34" charset="0"/>
            </a:endParaRPr>
          </a:p>
          <a:p>
            <a:pPr>
              <a:buNone/>
            </a:pPr>
            <a:r>
              <a:rPr lang="en-US" sz="2400" b="1" dirty="0">
                <a:latin typeface="Arial" panose="020B0604020202020204" pitchFamily="34" charset="0"/>
                <a:cs typeface="Arial" panose="020B0604020202020204" pitchFamily="34" charset="0"/>
              </a:rPr>
              <a:t>Limitations</a:t>
            </a:r>
          </a:p>
          <a:p>
            <a:pPr>
              <a:buFont typeface="+mj-lt"/>
              <a:buAutoNum type="arabicPeriod"/>
            </a:pPr>
            <a:r>
              <a:rPr lang="en-US" sz="2400" dirty="0">
                <a:latin typeface="Arial" panose="020B0604020202020204" pitchFamily="34" charset="0"/>
                <a:cs typeface="Arial" panose="020B0604020202020204" pitchFamily="34" charset="0"/>
              </a:rPr>
              <a:t>Requires internet connection to access the web-based system.</a:t>
            </a:r>
          </a:p>
          <a:p>
            <a:pPr>
              <a:buFont typeface="+mj-lt"/>
              <a:buAutoNum type="arabicPeriod"/>
            </a:pPr>
            <a:r>
              <a:rPr lang="en-US" sz="2400" dirty="0">
                <a:latin typeface="Arial" panose="020B0604020202020204" pitchFamily="34" charset="0"/>
                <a:cs typeface="Arial" panose="020B0604020202020204" pitchFamily="34" charset="0"/>
              </a:rPr>
              <a:t>Users must manually enter expense data for accurate results.</a:t>
            </a:r>
          </a:p>
          <a:p>
            <a:pPr>
              <a:buFont typeface="+mj-lt"/>
              <a:buAutoNum type="arabicPeriod"/>
            </a:pPr>
            <a:r>
              <a:rPr lang="en-US" sz="2400" dirty="0">
                <a:latin typeface="Arial" panose="020B0604020202020204" pitchFamily="34" charset="0"/>
                <a:cs typeface="Arial" panose="020B0604020202020204" pitchFamily="34" charset="0"/>
              </a:rPr>
              <a:t>Limited features if advanced financial analysis tools are not included.</a:t>
            </a:r>
          </a:p>
          <a:p>
            <a:pPr>
              <a:buFont typeface="+mj-lt"/>
              <a:buAutoNum type="arabicPeriod"/>
            </a:pPr>
            <a:r>
              <a:rPr lang="en-US" sz="2400" dirty="0">
                <a:latin typeface="Arial" panose="020B0604020202020204" pitchFamily="34" charset="0"/>
                <a:cs typeface="Arial" panose="020B0604020202020204" pitchFamily="34" charset="0"/>
              </a:rPr>
              <a:t>Data security depends on proper database protection.</a:t>
            </a:r>
          </a:p>
          <a:p>
            <a:pPr>
              <a:buFont typeface="+mj-lt"/>
              <a:buAutoNum type="arabicPeriod"/>
            </a:pPr>
            <a:r>
              <a:rPr lang="en-US" sz="2400" dirty="0">
                <a:latin typeface="Arial" panose="020B0604020202020204" pitchFamily="34" charset="0"/>
                <a:cs typeface="Arial" panose="020B0604020202020204" pitchFamily="34" charset="0"/>
              </a:rPr>
              <a:t>System maintenance and updates may require technical knowledge.</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675</TotalTime>
  <Words>1424</Words>
  <Application>Microsoft Office PowerPoint</Application>
  <PresentationFormat>Custom</PresentationFormat>
  <Paragraphs>322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Arial</vt:lpstr>
      <vt:lpstr>Times New Roman</vt:lpstr>
      <vt:lpstr>Gotham Bold Italics</vt:lpstr>
      <vt:lpstr>Gotham</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Supraja K</dc:creator>
  <cp:lastModifiedBy>Supraja K</cp:lastModifiedBy>
  <cp:revision>14</cp:revision>
  <dcterms:created xsi:type="dcterms:W3CDTF">2006-08-16T00:00:00Z</dcterms:created>
  <dcterms:modified xsi:type="dcterms:W3CDTF">2026-05-06T03:56:22Z</dcterms:modified>
  <dc:identifier>DAHCaYqJ9OU</dc:identifier>
</cp:coreProperties>
</file>